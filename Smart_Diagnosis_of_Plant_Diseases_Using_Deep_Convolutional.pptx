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1" r:id="rId5"/>
    <p:sldId id="266" r:id="rId6"/>
    <p:sldId id="267" r:id="rId7"/>
    <p:sldId id="269" r:id="rId8"/>
    <p:sldId id="270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3368-810E-35C0-61EA-A75249DB5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24E7C-A43C-D653-6244-48060A771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56166-28BA-04D1-D985-F39F9F59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1B723-9A74-548B-5AFB-4CD98E97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01116-3D80-541C-2D97-A12FF929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9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3C1F-92F4-7C6E-78C3-D67F3B5A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580D-2387-300E-B478-B420B8EE4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CCFC-35AD-9F3D-11B2-6BBEB746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88148-F0BC-E250-862F-77957E57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D344E-1884-FA17-3DC4-BDF817C3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6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5498-F3DE-6542-C0F2-296C6765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EC2D-F780-44C2-FA6F-93D26DA29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6A0B-9D17-C6F1-6B2C-B9451EB4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9D9C8-FDF0-5D6B-1CD9-9D69BEC5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1079F-B741-1081-BC73-B1B1D20C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9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89CF-4511-16A5-074A-920AC59E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867C9-A441-2487-D5FA-473B7FAFE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24099-1F3C-8B14-5ACF-02307A78F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8606F-1281-BAB4-30B8-64A4719D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749D3-1EF9-8A0F-95DD-E8466524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7700B-197A-F331-3A7F-F3481586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7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46CD-9389-33ED-1A5D-03BD18EF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2D3D9-3BC8-6C16-806B-67235248E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89CD4-C6FB-8509-5991-54ACFF8B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211F1-3972-2C61-80C2-9B3639FC8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4792E-3832-E17A-ED29-4DEA17CC2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6F742-98E4-10E3-FE97-BF9992CF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50F2D1-EF97-4210-529F-E02C9F7B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BDF33-5F65-862E-5ECD-07379E2A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97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93B2-8CA3-AB21-4D04-0604CEB7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1C5CB-AAAA-3128-5793-FD9CD6E7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7E26F-43FF-980C-A988-BFDF3CF3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222D7-C011-29CC-897B-7780BDFC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05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A5060-22AE-4BE5-CDA5-A6B08A51D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D614-B383-063F-27A8-4D2FD4B4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1D02-69A1-ED5D-4172-790C9C43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62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2378-1751-D139-64AC-844C7F94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BDFD-7433-E563-5D76-CF8127866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0D03E-106A-0DC2-37D2-3EA1DCC4B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B5516-59EE-0CEE-FE45-66229094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814BC-C699-AFFD-78BD-DD8FEBAB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0CE67-6B02-FC37-9DEB-F945F5DC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93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D013-5C4A-3D64-81CF-971915BC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53D1E5-E781-D033-5C64-7D75F1572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E265E-A3DD-96EA-6CEB-76107DDF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4264B-CC5A-3AEE-2252-C4940B00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AADC-73A2-C6D4-5B0B-4427D6C9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10648-BC99-779D-41B5-910E24D1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4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2494-4EE3-C4C1-A491-BCF06FF1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CCEF4-4FEB-F90C-CFA4-00F9EEE87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19D3-5B1E-E8A5-E997-CA761EC4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BA16E-99AF-246A-2AD6-F22FD94B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E87B-5D7F-A444-695E-87C64ADA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7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C1FA9-137F-2623-4972-1ABD85380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50746-3BB3-0187-515D-4E9A3B5F0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767B4-9CCB-6474-3BFD-36375E69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199B-9036-0F0C-94A6-21EF9DF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D348-4AEE-3987-1459-BDA62E96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50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8A318-369E-B537-0E2B-96D16AB4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2D59-3D4D-A949-1B2C-8037B78E4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E24CD-20BB-F957-7ABC-466BACB6D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0C8DE-6684-4B31-83C6-F047CAACCE2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3FAC-04E9-B4B8-13AD-984CAF17E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0ABC-99ED-5A60-E625-48B7E1E43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DD22-4072-46F3-872E-9EEFF143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8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1A76-35DC-4A22-8F19-C72BF8C60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343" y="2471517"/>
            <a:ext cx="10414000" cy="1085754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accent6">
                    <a:lumMod val="75000"/>
                  </a:schemeClr>
                </a:solidFill>
                <a:latin typeface="Britannic Bold"/>
                <a:ea typeface="+mj-lt"/>
                <a:cs typeface="+mj-lt"/>
              </a:rPr>
              <a:t>Climate-Aware Spread Prediction of Leaf Disease using Transfer Learning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ritannic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EF0FE-4F0C-A091-23A6-44752B99DC94}"/>
              </a:ext>
            </a:extLst>
          </p:cNvPr>
          <p:cNvSpPr txBox="1"/>
          <p:nvPr/>
        </p:nvSpPr>
        <p:spPr>
          <a:xfrm>
            <a:off x="4257777" y="4545581"/>
            <a:ext cx="3676443" cy="332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CSE22014 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  GOWTHAM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CSE22017 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-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  HARISH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CSE22069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-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  KARTHIK</a:t>
            </a:r>
          </a:p>
          <a:p>
            <a:pPr algn="ctr"/>
            <a:endParaRPr lang="en-IN" sz="28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sz="28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fornian FB" panose="0207040306080B0302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B68C4-7D66-AB22-5E3F-32064CE30B1C}"/>
              </a:ext>
            </a:extLst>
          </p:cNvPr>
          <p:cNvSpPr txBox="1"/>
          <p:nvPr/>
        </p:nvSpPr>
        <p:spPr>
          <a:xfrm>
            <a:off x="2153555" y="531613"/>
            <a:ext cx="7884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(19CSE456)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4EF9C3A-482B-6A71-3415-8E406893531C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ABD137D-F447-4C97-12E1-ED0C33429623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3407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D51B-95F1-DD3A-52FA-3E19C424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A639-F15B-4591-C6CA-EBC4D8AC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1003965"/>
            <a:ext cx="5667829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Problem Statement</a:t>
            </a:r>
            <a:endParaRPr lang="en-IN" sz="4000" b="1" dirty="0">
              <a:solidFill>
                <a:schemeClr val="accent5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378A9-21DE-B7B7-797B-49B08D61F9EC}"/>
              </a:ext>
            </a:extLst>
          </p:cNvPr>
          <p:cNvSpPr txBox="1"/>
          <p:nvPr/>
        </p:nvSpPr>
        <p:spPr>
          <a:xfrm>
            <a:off x="425752" y="1949751"/>
            <a:ext cx="1114697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16255" indent="-457200">
              <a:buAutoNum type="arabicPeriod"/>
            </a:pPr>
            <a:r>
              <a:rPr lang="en-US" sz="2400" dirty="0">
                <a:latin typeface="Trebuchet MS" panose="020B0603020202020204"/>
                <a:ea typeface="+mn-lt"/>
                <a:cs typeface="+mn-lt"/>
              </a:rPr>
              <a:t>Traditional leaf disease detection systems stop at image classification and fail to consider environmental factors that directly influence disease spread. </a:t>
            </a:r>
            <a:endParaRPr lang="en-US" dirty="0">
              <a:latin typeface="Trebuchet MS" panose="020B0603020202020204"/>
              <a:ea typeface="+mn-lt"/>
              <a:cs typeface="+mn-lt"/>
            </a:endParaRPr>
          </a:p>
          <a:p>
            <a:pPr marL="516255" indent="-457200">
              <a:buAutoNum type="arabicPeriod"/>
            </a:pPr>
            <a:endParaRPr lang="en-US" sz="2400" dirty="0">
              <a:latin typeface="Trebuchet MS" panose="020B0603020202020204"/>
              <a:ea typeface="+mn-lt"/>
              <a:cs typeface="+mn-lt"/>
            </a:endParaRPr>
          </a:p>
          <a:p>
            <a:pPr marL="516255" indent="-457200"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+mn-lt"/>
                <a:cs typeface="+mn-lt"/>
              </a:rPr>
              <a:t>Since most plant diseases thrive under specific </a:t>
            </a:r>
            <a:r>
              <a:rPr lang="en-US" sz="2400" b="1" dirty="0">
                <a:latin typeface="Trebuchet MS" panose="020B0603020202020204" pitchFamily="34" charset="0"/>
                <a:ea typeface="+mn-lt"/>
                <a:cs typeface="+mn-lt"/>
              </a:rPr>
              <a:t>climate conditions</a:t>
            </a:r>
            <a:r>
              <a:rPr lang="en-US" sz="2400" dirty="0">
                <a:latin typeface="Trebuchet MS" panose="020B0603020202020204" pitchFamily="34" charset="0"/>
                <a:ea typeface="+mn-lt"/>
                <a:cs typeface="+mn-lt"/>
              </a:rPr>
              <a:t>, ignoring these parameters limits the actual system’s prediction.</a:t>
            </a:r>
            <a:endParaRPr lang="en-US" dirty="0">
              <a:latin typeface="Trebuchet MS" panose="020B0603020202020204" pitchFamily="34" charset="0"/>
              <a:ea typeface="+mn-lt"/>
              <a:cs typeface="+mn-lt"/>
            </a:endParaRPr>
          </a:p>
          <a:p>
            <a:pPr marL="516255" indent="-457200">
              <a:buAutoNum type="arabicPeriod"/>
            </a:pPr>
            <a:endParaRPr lang="en-US" sz="2400" dirty="0">
              <a:latin typeface="Trebuchet MS" panose="020B0603020202020204"/>
              <a:ea typeface="+mn-lt"/>
              <a:cs typeface="+mn-lt"/>
            </a:endParaRPr>
          </a:p>
          <a:p>
            <a:pPr marL="516255" indent="-457200">
              <a:buAutoNum type="arabicPeriod"/>
            </a:pPr>
            <a:r>
              <a:rPr lang="en-US" sz="2400" dirty="0">
                <a:latin typeface="Trebuchet MS" panose="020B0603020202020204"/>
                <a:ea typeface="+mn-lt"/>
                <a:cs typeface="+mn-lt"/>
              </a:rPr>
              <a:t>Farmers require a model that not only </a:t>
            </a:r>
            <a:r>
              <a:rPr lang="en-US" sz="2400" b="1" dirty="0">
                <a:latin typeface="Trebuchet MS" panose="020B0603020202020204"/>
                <a:ea typeface="+mn-lt"/>
                <a:cs typeface="+mn-lt"/>
              </a:rPr>
              <a:t>identifies diseases accurately</a:t>
            </a:r>
            <a:r>
              <a:rPr lang="en-US" sz="2400" dirty="0">
                <a:latin typeface="Trebuchet MS" panose="020B0603020202020204"/>
                <a:ea typeface="+mn-lt"/>
                <a:cs typeface="+mn-lt"/>
              </a:rPr>
              <a:t> but also </a:t>
            </a:r>
            <a:r>
              <a:rPr lang="en-US" sz="2400" b="1" dirty="0">
                <a:latin typeface="Trebuchet MS" panose="020B0603020202020204"/>
                <a:ea typeface="+mn-lt"/>
                <a:cs typeface="+mn-lt"/>
              </a:rPr>
              <a:t>predicts the likelihood of spread</a:t>
            </a:r>
            <a:r>
              <a:rPr lang="en-US" sz="2400" dirty="0">
                <a:latin typeface="Trebuchet MS" panose="020B0603020202020204"/>
                <a:ea typeface="+mn-lt"/>
                <a:cs typeface="+mn-lt"/>
              </a:rPr>
              <a:t> based on real-time weather data, enabling proactive crop protection and efficient resource use.</a:t>
            </a:r>
            <a:endParaRPr lang="en-US" dirty="0">
              <a:latin typeface="Trebuchet MS" panose="020B0603020202020204"/>
              <a:ea typeface="+mn-lt"/>
              <a:cs typeface="+mn-lt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26BD17D-F731-C5A3-5EBC-7A1DF65FC8F5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ED4FE2F-926B-9639-7786-6EF64D025F6A}"/>
              </a:ext>
            </a:extLst>
          </p:cNvPr>
          <p:cNvSpPr/>
          <p:nvPr/>
        </p:nvSpPr>
        <p:spPr>
          <a:xfrm>
            <a:off x="-595631" y="489839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68915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FC1D-A805-7706-4B4B-B6F03859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7183-F27F-EE09-319A-084AA762D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933" y="1064441"/>
            <a:ext cx="5667829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Abstract</a:t>
            </a:r>
            <a:endParaRPr lang="en-IN" sz="4000" b="1" dirty="0">
              <a:solidFill>
                <a:schemeClr val="accent5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DD7C9-DFA4-D345-439A-53B338C544ED}"/>
              </a:ext>
            </a:extLst>
          </p:cNvPr>
          <p:cNvSpPr txBox="1"/>
          <p:nvPr/>
        </p:nvSpPr>
        <p:spPr>
          <a:xfrm>
            <a:off x="526600" y="2241916"/>
            <a:ext cx="11146972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9055"/>
            <a:r>
              <a:rPr lang="en-US" sz="2400">
                <a:ea typeface="+mn-lt"/>
                <a:cs typeface="+mn-lt"/>
              </a:rPr>
              <a:t>This project presents an intelligent system that not only detects plant leaf diseases from images but also predicts their potential spread based on </a:t>
            </a:r>
            <a:r>
              <a:rPr lang="en-US" sz="2400" b="1">
                <a:ea typeface="+mn-lt"/>
                <a:cs typeface="+mn-lt"/>
              </a:rPr>
              <a:t>local climatic conditions</a:t>
            </a:r>
            <a:r>
              <a:rPr lang="en-US" sz="2400">
                <a:ea typeface="+mn-lt"/>
                <a:cs typeface="+mn-lt"/>
              </a:rPr>
              <a:t>. Using </a:t>
            </a:r>
            <a:r>
              <a:rPr lang="en-US" sz="2400" b="1">
                <a:ea typeface="+mn-lt"/>
                <a:cs typeface="+mn-lt"/>
              </a:rPr>
              <a:t>transfer learning</a:t>
            </a:r>
            <a:r>
              <a:rPr lang="en-US" sz="2400">
                <a:ea typeface="+mn-lt"/>
                <a:cs typeface="+mn-lt"/>
              </a:rPr>
              <a:t> with the </a:t>
            </a:r>
            <a:r>
              <a:rPr lang="en-US" sz="2400" b="1">
                <a:ea typeface="+mn-lt"/>
                <a:cs typeface="+mn-lt"/>
              </a:rPr>
              <a:t>EfficientNetB0</a:t>
            </a:r>
            <a:r>
              <a:rPr lang="en-US" sz="2400">
                <a:ea typeface="+mn-lt"/>
                <a:cs typeface="+mn-lt"/>
              </a:rPr>
              <a:t> model, the system identifies diseases such as </a:t>
            </a:r>
            <a:r>
              <a:rPr lang="en-US" sz="2400" i="1">
                <a:ea typeface="+mn-lt"/>
                <a:cs typeface="+mn-lt"/>
              </a:rPr>
              <a:t>Blight, Rust, Mildew, Leaf Spot,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i="1">
                <a:ea typeface="+mn-lt"/>
                <a:cs typeface="+mn-lt"/>
              </a:rPr>
              <a:t>Mosaic Virus</a:t>
            </a:r>
            <a:r>
              <a:rPr lang="en-US" sz="2400">
                <a:ea typeface="+mn-lt"/>
                <a:cs typeface="+mn-lt"/>
              </a:rPr>
              <a:t> from diverse plant types. The model’s outputs are combined with </a:t>
            </a:r>
            <a:r>
              <a:rPr lang="en-US" sz="2400" b="1">
                <a:ea typeface="+mn-lt"/>
                <a:cs typeface="+mn-lt"/>
              </a:rPr>
              <a:t>weather parameters</a:t>
            </a:r>
            <a:r>
              <a:rPr lang="en-US" sz="2400">
                <a:ea typeface="+mn-lt"/>
                <a:cs typeface="+mn-lt"/>
              </a:rPr>
              <a:t> like temperature, humidity, and rainfall forecasts to estimate disease progression probability. This climate-aware approach supports farmers in making timely decisions for disease prevention and management, improving crop health and yield while minimizing pesticide misuse.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ED172507-8068-2050-1F92-91717FC8EDD9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051CED8-F18C-458E-5B9E-FDD4B49128C5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39707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3D12-B296-ED28-F50B-46229ED8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001E-69B1-1D87-6650-61AA4B57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435489"/>
            <a:ext cx="9144000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latin typeface="Britannic Bold" panose="020B0903060703020204" pitchFamily="34" charset="0"/>
              </a:rPr>
              <a:t>Literature Review</a:t>
            </a:r>
            <a:endParaRPr lang="en-IN" sz="4000" b="1" dirty="0">
              <a:latin typeface="Britannic Bold" panose="020B0903060703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5A7AC3-ED74-E013-2EF0-8E64BAC05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03289"/>
              </p:ext>
            </p:extLst>
          </p:nvPr>
        </p:nvGraphicFramePr>
        <p:xfrm>
          <a:off x="483465" y="1067491"/>
          <a:ext cx="11298960" cy="520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87">
                  <a:extLst>
                    <a:ext uri="{9D8B030D-6E8A-4147-A177-3AD203B41FA5}">
                      <a16:colId xmlns:a16="http://schemas.microsoft.com/office/drawing/2014/main" val="3437997538"/>
                    </a:ext>
                  </a:extLst>
                </a:gridCol>
                <a:gridCol w="1671816">
                  <a:extLst>
                    <a:ext uri="{9D8B030D-6E8A-4147-A177-3AD203B41FA5}">
                      <a16:colId xmlns:a16="http://schemas.microsoft.com/office/drawing/2014/main" val="4249437953"/>
                    </a:ext>
                  </a:extLst>
                </a:gridCol>
                <a:gridCol w="3420457">
                  <a:extLst>
                    <a:ext uri="{9D8B030D-6E8A-4147-A177-3AD203B41FA5}">
                      <a16:colId xmlns:a16="http://schemas.microsoft.com/office/drawing/2014/main" val="629588375"/>
                    </a:ext>
                  </a:extLst>
                </a:gridCol>
                <a:gridCol w="2968616">
                  <a:extLst>
                    <a:ext uri="{9D8B030D-6E8A-4147-A177-3AD203B41FA5}">
                      <a16:colId xmlns:a16="http://schemas.microsoft.com/office/drawing/2014/main" val="2137791818"/>
                    </a:ext>
                  </a:extLst>
                </a:gridCol>
                <a:gridCol w="2593984">
                  <a:extLst>
                    <a:ext uri="{9D8B030D-6E8A-4147-A177-3AD203B41FA5}">
                      <a16:colId xmlns:a16="http://schemas.microsoft.com/office/drawing/2014/main" val="386864037"/>
                    </a:ext>
                  </a:extLst>
                </a:gridCol>
              </a:tblGrid>
              <a:tr h="321193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S.No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Type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Gaps /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889836"/>
                  </a:ext>
                </a:extLst>
              </a:tr>
              <a:tr h="1393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Using Deep Learning for Image-Based Plant Disease Detection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Demonstrates large-scale CNN classification of 54,000+ leaf images across multiple crops and diseases using the </a:t>
                      </a:r>
                      <a:r>
                        <a:rPr lang="en-GB" sz="1100" err="1"/>
                        <a:t>PlantVillage</a:t>
                      </a:r>
                      <a:r>
                        <a:rPr lang="en-GB" sz="1100"/>
                        <a:t> dataset. Achieved very high accuracy and proved the potential of deep learning for automated disease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Evaluated only on lab-quality images; poor performance on real-field data. Lacks explainability and robustness testing.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089394"/>
                  </a:ext>
                </a:extLst>
              </a:tr>
              <a:tr h="1270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Deep Learning Models for Plant Disease Detection and Diagnosis: A Review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Provides a comparative review of CNN architectures, transfer learning, and preprocessing methods for plant disease diagnosis. Highlights trends, datasets, and performance metrics used in prior research.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Limited focus on field datasets and explainable AI. Overemphasis on benchmark datasets without real-world validation.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795054"/>
                  </a:ext>
                </a:extLst>
              </a:tr>
              <a:tr h="1024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Conference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Deep Learning for Cassava Disease Detection (Transfer Learning Approach)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Utilizes pretrained CNNs (InceptionV3, ResNet) for cassava leaf disease classification. Achieves high accuracy even with a limited dataset through transfer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Model accuracy drops when applied to unseen environments. Dataset diversity and lighting variation not addressed.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05279"/>
                  </a:ext>
                </a:extLst>
              </a:tr>
              <a:tr h="1147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 err="1"/>
                        <a:t>LeafGAN</a:t>
                      </a:r>
                      <a:r>
                        <a:rPr lang="en-GB" sz="1100" b="1"/>
                        <a:t>: An Effective Data Augmentation Method for Practical Plant Disease Diagnosis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Introduces </a:t>
                      </a:r>
                      <a:r>
                        <a:rPr lang="en-GB" sz="1100" err="1"/>
                        <a:t>LeafGAN</a:t>
                      </a:r>
                      <a:r>
                        <a:rPr lang="en-GB" sz="1100"/>
                        <a:t>, a GAN-based augmentation technique that synthesizes diseased leaf images for minority classes. Improves CNN accuracy and balances dataset classes.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/>
                        <a:t>GAN-generated images can contain unrealistic features. Tested on limited plant species and disease types.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906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82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5DB7-C20D-AACE-CC30-94115F81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6163-930C-0D4F-3DB1-97EA5403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435489"/>
            <a:ext cx="9144000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>
                <a:latin typeface="Britannic Bold" panose="020B0903060703020204" pitchFamily="34" charset="0"/>
              </a:rPr>
              <a:t>Literature Review</a:t>
            </a:r>
            <a:endParaRPr lang="en-IN" sz="4000" b="1">
              <a:latin typeface="Britannic Bold" panose="020B0903060703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2F5039-EC70-3F3C-C847-21C2048B3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217246"/>
              </p:ext>
            </p:extLst>
          </p:nvPr>
        </p:nvGraphicFramePr>
        <p:xfrm>
          <a:off x="483465" y="1067491"/>
          <a:ext cx="11298960" cy="520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87">
                  <a:extLst>
                    <a:ext uri="{9D8B030D-6E8A-4147-A177-3AD203B41FA5}">
                      <a16:colId xmlns:a16="http://schemas.microsoft.com/office/drawing/2014/main" val="3437997538"/>
                    </a:ext>
                  </a:extLst>
                </a:gridCol>
                <a:gridCol w="1671816">
                  <a:extLst>
                    <a:ext uri="{9D8B030D-6E8A-4147-A177-3AD203B41FA5}">
                      <a16:colId xmlns:a16="http://schemas.microsoft.com/office/drawing/2014/main" val="4249437953"/>
                    </a:ext>
                  </a:extLst>
                </a:gridCol>
                <a:gridCol w="3420457">
                  <a:extLst>
                    <a:ext uri="{9D8B030D-6E8A-4147-A177-3AD203B41FA5}">
                      <a16:colId xmlns:a16="http://schemas.microsoft.com/office/drawing/2014/main" val="629588375"/>
                    </a:ext>
                  </a:extLst>
                </a:gridCol>
                <a:gridCol w="2968616">
                  <a:extLst>
                    <a:ext uri="{9D8B030D-6E8A-4147-A177-3AD203B41FA5}">
                      <a16:colId xmlns:a16="http://schemas.microsoft.com/office/drawing/2014/main" val="2137791818"/>
                    </a:ext>
                  </a:extLst>
                </a:gridCol>
                <a:gridCol w="2593984">
                  <a:extLst>
                    <a:ext uri="{9D8B030D-6E8A-4147-A177-3AD203B41FA5}">
                      <a16:colId xmlns:a16="http://schemas.microsoft.com/office/drawing/2014/main" val="386864037"/>
                    </a:ext>
                  </a:extLst>
                </a:gridCol>
              </a:tblGrid>
              <a:tr h="321193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S.No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Type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Gaps /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889836"/>
                  </a:ext>
                </a:extLst>
              </a:tr>
              <a:tr h="1393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Journal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b="1"/>
                        <a:t>Attention-based CNN for precise plant disease classification</a:t>
                      </a:r>
                      <a:endParaRPr lang="en-GB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Introduces spatial and channel attention modules into CNN backbones to focus the model on disease regions (lesions). Reports improved precision/F1 on multiple leaf datasets and better localization of discriminative areas.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Attention adds computation and may overfit when dataset is small; improvement on real-world noisy images is modest if background bias exists.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089394"/>
                  </a:ext>
                </a:extLst>
              </a:tr>
              <a:tr h="1270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Conference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b="1"/>
                        <a:t>Lightweight CNN architecture for tomato leaf disease classification (edge deployment)</a:t>
                      </a:r>
                      <a:endParaRPr lang="en-GB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Proposes a compact CNN designed for mobile/edge inference (reduced parameters and FLOPs) and reports competitive accuracy while enabling real-time inference on smartphones.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Trade-off between size and accuracy for fine-grained/rare classes; robustness under varied field conditions not deeply evaluated.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795054"/>
                  </a:ext>
                </a:extLst>
              </a:tr>
              <a:tr h="1024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Journal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b="1"/>
                        <a:t>Hybrid Deep Learning Model for Crop Leaf Disease Detection</a:t>
                      </a:r>
                      <a:endParaRPr lang="en-GB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Combines CNN feature extractor with an LSTM/sequence module (or attention) to model multi-scale/contextual patterns across leaf patches; shows gains vs plain CNNs for some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Increased model complexity and inference latency; benefit depends on dataset and may not justify extra cost for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05279"/>
                  </a:ext>
                </a:extLst>
              </a:tr>
              <a:tr h="1147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Journal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b="1"/>
                        <a:t>Automated Plant Disease Detection Using Transfer Learning with CNNs</a:t>
                      </a:r>
                      <a:endParaRPr lang="en-GB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Thorough study fine-tuning multiple pretrained models (</a:t>
                      </a:r>
                      <a:r>
                        <a:rPr lang="en-GB" sz="1050" err="1"/>
                        <a:t>ResNet</a:t>
                      </a:r>
                      <a:r>
                        <a:rPr lang="en-GB" sz="1050"/>
                        <a:t>, Inception, </a:t>
                      </a:r>
                      <a:r>
                        <a:rPr lang="en-GB" sz="1050" err="1"/>
                        <a:t>MobileNet</a:t>
                      </a:r>
                      <a:r>
                        <a:rPr lang="en-GB" sz="1050"/>
                        <a:t>) on leaf datasets; quantifies how model depth, preprocessing and augmentation affect accuracy and generalization.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dirty="0"/>
                        <a:t>Transfer learning helps but domain shift remains; small classes and imbalanced datasets still problematic without careful augmentation or re-sampling.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906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62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692CB-314F-A569-C3A9-1370DF59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6977-BC7B-481C-BEF9-43C0C9DA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435489"/>
            <a:ext cx="9144000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>
                <a:latin typeface="Britannic Bold" panose="020B0903060703020204" pitchFamily="34" charset="0"/>
              </a:rPr>
              <a:t>Literature Review</a:t>
            </a:r>
            <a:endParaRPr lang="en-IN" sz="4000" b="1">
              <a:latin typeface="Britannic Bold" panose="020B0903060703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B0DF1-D417-6246-F5D5-BCF09EB12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980558"/>
              </p:ext>
            </p:extLst>
          </p:nvPr>
        </p:nvGraphicFramePr>
        <p:xfrm>
          <a:off x="483465" y="1067491"/>
          <a:ext cx="11298960" cy="5572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87">
                  <a:extLst>
                    <a:ext uri="{9D8B030D-6E8A-4147-A177-3AD203B41FA5}">
                      <a16:colId xmlns:a16="http://schemas.microsoft.com/office/drawing/2014/main" val="3437997538"/>
                    </a:ext>
                  </a:extLst>
                </a:gridCol>
                <a:gridCol w="1671816">
                  <a:extLst>
                    <a:ext uri="{9D8B030D-6E8A-4147-A177-3AD203B41FA5}">
                      <a16:colId xmlns:a16="http://schemas.microsoft.com/office/drawing/2014/main" val="4249437953"/>
                    </a:ext>
                  </a:extLst>
                </a:gridCol>
                <a:gridCol w="3420457">
                  <a:extLst>
                    <a:ext uri="{9D8B030D-6E8A-4147-A177-3AD203B41FA5}">
                      <a16:colId xmlns:a16="http://schemas.microsoft.com/office/drawing/2014/main" val="629588375"/>
                    </a:ext>
                  </a:extLst>
                </a:gridCol>
                <a:gridCol w="2968616">
                  <a:extLst>
                    <a:ext uri="{9D8B030D-6E8A-4147-A177-3AD203B41FA5}">
                      <a16:colId xmlns:a16="http://schemas.microsoft.com/office/drawing/2014/main" val="2137791818"/>
                    </a:ext>
                  </a:extLst>
                </a:gridCol>
                <a:gridCol w="2593984">
                  <a:extLst>
                    <a:ext uri="{9D8B030D-6E8A-4147-A177-3AD203B41FA5}">
                      <a16:colId xmlns:a16="http://schemas.microsoft.com/office/drawing/2014/main" val="386864037"/>
                    </a:ext>
                  </a:extLst>
                </a:gridCol>
              </a:tblGrid>
              <a:tr h="321193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S.No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Type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Gaps /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889836"/>
                  </a:ext>
                </a:extLst>
              </a:tr>
              <a:tr h="1393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Conference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Tomato Leaf Disease Detection Using YOLOv5 (detection + classification)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Uses an object-detection framework to both localize lesion regions and classify disease types in tomato leaves; provides bounding-box level annotations and shows advantages for mixed-leaf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Detecting very small lesions or overlapping leaves remains hard; requires laborious bounding-box annotation and may miss subtle diffuse symptoms.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089394"/>
                  </a:ext>
                </a:extLst>
              </a:tr>
              <a:tr h="1270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Explainable/Interpretable Deep Models for Plant Disease Classification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Applies explainability techniques (Grad-CAM, concept attribution) to show which image regions or visual concepts drive CNN decisions; helps identify dataset biases (background, leaf stems) and build trust for agronomists.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Interpretability methods are post-hoc and don’t necessarily improve robustness; explanations can be coarse and misleading with noisy labels or occlusions.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795054"/>
                  </a:ext>
                </a:extLst>
              </a:tr>
              <a:tr h="1270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Crop Leaf Disease Detection Using Hybrid CNN–Transformer Architecture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Proposes a hybrid deep learning model that integrates CNN layers for feature extraction with Vision Transformer (</a:t>
                      </a:r>
                      <a:r>
                        <a:rPr lang="en-IN" sz="1100" err="1"/>
                        <a:t>ViT</a:t>
                      </a:r>
                      <a:r>
                        <a:rPr lang="en-IN" sz="1100"/>
                        <a:t>) blocks for global context understanding. Achieves improved classification accuracy on multiple leaf disease datasets compared to pure CNNs.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Requires large datasets and high computation for transformer training. Limited testing on mobile or low-power devices.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245121"/>
                  </a:ext>
                </a:extLst>
              </a:tr>
              <a:tr h="1270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Journal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/>
                        <a:t>Plant Disease Detection and Classification: A Systematic Literature Review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/>
                        <a:t>Reviews more than 120 studies on image-based plant disease detection. Categorizes research by dataset, architecture, and evaluation metrics. Summarizes recent trends like GAN-based augmentation and attention mechanisms.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/>
                        <a:t>Many studies rely on publicly available datasets; lack of unified benchmark and real-time evaluation across varied field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184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15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7EF4-415A-8346-9D3E-2027E9FB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5E4D-9984-B00D-86F9-00EAD4433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999" y="557409"/>
            <a:ext cx="5667829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Technologies Used</a:t>
            </a:r>
            <a:endParaRPr lang="en-IN" sz="4000" b="1" dirty="0">
              <a:solidFill>
                <a:schemeClr val="accent5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B84CA-1B16-CA04-215D-69F6C9C1AA9A}"/>
              </a:ext>
            </a:extLst>
          </p:cNvPr>
          <p:cNvSpPr txBox="1"/>
          <p:nvPr/>
        </p:nvSpPr>
        <p:spPr>
          <a:xfrm>
            <a:off x="1051560" y="1590040"/>
            <a:ext cx="8553450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Programming Language:</a:t>
            </a:r>
            <a:r>
              <a:rPr lang="en-IN" sz="2400" dirty="0">
                <a:ea typeface="+mn-lt"/>
                <a:cs typeface="+mn-lt"/>
              </a:rPr>
              <a:t> Python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Frameworks:</a:t>
            </a:r>
            <a:r>
              <a:rPr lang="en-IN" sz="2400" dirty="0">
                <a:ea typeface="+mn-lt"/>
                <a:cs typeface="+mn-lt"/>
              </a:rPr>
              <a:t> TensorFlow / </a:t>
            </a:r>
            <a:r>
              <a:rPr lang="en-IN" sz="2400" dirty="0" err="1">
                <a:ea typeface="+mn-lt"/>
                <a:cs typeface="+mn-lt"/>
              </a:rPr>
              <a:t>Keras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Model Architecture:</a:t>
            </a:r>
            <a:r>
              <a:rPr lang="en-IN" sz="2400" dirty="0">
                <a:ea typeface="+mn-lt"/>
                <a:cs typeface="+mn-lt"/>
              </a:rPr>
              <a:t> EfficientNetB0 (Transfer Learning)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Weather Data Source:</a:t>
            </a:r>
            <a:r>
              <a:rPr lang="en-IN" sz="2400" dirty="0">
                <a:ea typeface="+mn-lt"/>
                <a:cs typeface="+mn-lt"/>
              </a:rPr>
              <a:t> </a:t>
            </a:r>
            <a:r>
              <a:rPr lang="en-IN" sz="2400" dirty="0" err="1">
                <a:ea typeface="+mn-lt"/>
                <a:cs typeface="+mn-lt"/>
              </a:rPr>
              <a:t>OpenWeatherMap</a:t>
            </a:r>
            <a:r>
              <a:rPr lang="en-IN" sz="2400" dirty="0">
                <a:ea typeface="+mn-lt"/>
                <a:cs typeface="+mn-lt"/>
              </a:rPr>
              <a:t> API / Local weather dataset (temperature, humidity, rainfall)</a:t>
            </a:r>
            <a:endParaRPr lang="en-IN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Data Processing:</a:t>
            </a:r>
            <a:r>
              <a:rPr lang="en-IN" sz="2400" dirty="0">
                <a:ea typeface="+mn-lt"/>
                <a:cs typeface="+mn-lt"/>
              </a:rPr>
              <a:t> Pandas, NumPy, OpenCV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Visualization &amp; Analysis:</a:t>
            </a:r>
            <a:r>
              <a:rPr lang="en-IN" sz="2400" dirty="0">
                <a:ea typeface="+mn-lt"/>
                <a:cs typeface="+mn-lt"/>
              </a:rPr>
              <a:t> Matplotlib, Seaborn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Machine Learning (Prediction):</a:t>
            </a:r>
            <a:r>
              <a:rPr lang="en-IN" sz="2400" dirty="0">
                <a:ea typeface="+mn-lt"/>
                <a:cs typeface="+mn-lt"/>
              </a:rPr>
              <a:t> Scikit-learn Regression / Forecast-based Risk Model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Environment:</a:t>
            </a:r>
            <a:r>
              <a:rPr lang="en-IN" sz="2400" dirty="0">
                <a:ea typeface="+mn-lt"/>
                <a:cs typeface="+mn-lt"/>
              </a:rPr>
              <a:t> </a:t>
            </a:r>
            <a:r>
              <a:rPr lang="en-IN" sz="2400" dirty="0" err="1">
                <a:ea typeface="+mn-lt"/>
                <a:cs typeface="+mn-lt"/>
              </a:rPr>
              <a:t>Jupyter</a:t>
            </a:r>
            <a:r>
              <a:rPr lang="en-IN" sz="2400" dirty="0">
                <a:ea typeface="+mn-lt"/>
                <a:cs typeface="+mn-lt"/>
              </a:rPr>
              <a:t> Notebook / Google </a:t>
            </a:r>
            <a:r>
              <a:rPr lang="en-IN" sz="2400" dirty="0" err="1">
                <a:ea typeface="+mn-lt"/>
                <a:cs typeface="+mn-lt"/>
              </a:rPr>
              <a:t>Colab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sz="2400" b="1" dirty="0">
                <a:ea typeface="+mn-lt"/>
                <a:cs typeface="+mn-lt"/>
              </a:rPr>
              <a:t>Deployment (Optional):</a:t>
            </a:r>
            <a:r>
              <a:rPr lang="en-IN" sz="2400" dirty="0">
                <a:ea typeface="+mn-lt"/>
                <a:cs typeface="+mn-lt"/>
              </a:rPr>
              <a:t> Flask / </a:t>
            </a:r>
            <a:r>
              <a:rPr lang="en-IN" sz="2400" dirty="0" err="1">
                <a:ea typeface="+mn-lt"/>
                <a:cs typeface="+mn-lt"/>
              </a:rPr>
              <a:t>Streamlit</a:t>
            </a:r>
            <a:r>
              <a:rPr lang="en-IN" sz="2400" dirty="0">
                <a:ea typeface="+mn-lt"/>
                <a:cs typeface="+mn-lt"/>
              </a:rPr>
              <a:t> Web App</a:t>
            </a:r>
            <a:endParaRPr lang="en-IN" dirty="0"/>
          </a:p>
          <a:p>
            <a:endParaRPr lang="en-IN" sz="2400" b="1" dirty="0">
              <a:ea typeface="Calibri"/>
              <a:cs typeface="Calibri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5690A8A4-1665-58E9-5A5E-EAB64DE665A4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821441A-E073-D342-1E92-D2BF079B18AA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57212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0484-83D7-218C-4DE1-A4B08443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6E4A269-541B-BE0A-039A-2B79DA9CA010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BB06B5B-8E78-DD95-68E3-C69B0858CAAE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4E572-96C2-40A3-77F8-FDD72F51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6400" cy="68579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3CA366F-396C-0607-0AD3-C65C3802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349" y="221000"/>
            <a:ext cx="5667829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Architecture Diagram</a:t>
            </a:r>
            <a:endParaRPr lang="en-IN" sz="4000" b="1" dirty="0">
              <a:solidFill>
                <a:schemeClr val="accent5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7FA8-F378-4972-A5A4-D82F5B5F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BE96-6AD5-6B97-15B8-91DCAB686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435489"/>
            <a:ext cx="9144000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>
                <a:latin typeface="Britannic Bold" panose="020B0903060703020204" pitchFamily="34" charset="0"/>
              </a:rPr>
              <a:t>References</a:t>
            </a:r>
            <a:endParaRPr lang="en-IN" sz="4000" b="1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72BA8-D6FD-7A67-F6B6-35355193AEEB}"/>
              </a:ext>
            </a:extLst>
          </p:cNvPr>
          <p:cNvSpPr txBox="1"/>
          <p:nvPr/>
        </p:nvSpPr>
        <p:spPr>
          <a:xfrm>
            <a:off x="544286" y="1074058"/>
            <a:ext cx="109292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/>
              <a:t>1. S. Mohanty, D. P. Hughes, and M. </a:t>
            </a:r>
            <a:r>
              <a:rPr lang="en-IN" sz="2000" err="1"/>
              <a:t>Salathé</a:t>
            </a:r>
            <a:r>
              <a:rPr lang="en-IN" sz="2000"/>
              <a:t>, “Using deep learning for image-based plant disease </a:t>
            </a:r>
          </a:p>
          <a:p>
            <a:r>
              <a:rPr lang="en-IN" sz="2000"/>
              <a:t>detection,” Frontiers in Plant Science, vol. 7, p. 1419, 2016. </a:t>
            </a:r>
          </a:p>
          <a:p>
            <a:r>
              <a:rPr lang="en-IN" sz="2000"/>
              <a:t>2. Q. H. Cap, D. T. Linh, V. H. Nguyen, and Y. H. Kim, “</a:t>
            </a:r>
            <a:r>
              <a:rPr lang="en-IN" sz="2000" err="1"/>
              <a:t>LeafGAN</a:t>
            </a:r>
            <a:r>
              <a:rPr lang="en-IN" sz="2000"/>
              <a:t>: An effective data augmentation </a:t>
            </a:r>
          </a:p>
          <a:p>
            <a:r>
              <a:rPr lang="en-IN" sz="2000"/>
              <a:t>method for practical plant disease diagnosis,” Computers and Electronics in Agriculture, vol. 185, </a:t>
            </a:r>
          </a:p>
          <a:p>
            <a:r>
              <a:rPr lang="en-IN" sz="2000"/>
              <a:t>p. 106143, 2021. </a:t>
            </a:r>
          </a:p>
          <a:p>
            <a:r>
              <a:rPr lang="en-IN" sz="2000"/>
              <a:t>3. M. Brahimi, K. Boukhalfa, and A. Moussaoui, “Deep interpretable architecture for plant diseases </a:t>
            </a:r>
          </a:p>
          <a:p>
            <a:r>
              <a:rPr lang="en-IN" sz="2000"/>
              <a:t>classification,” Computers and Electronics in Agriculture, vol. 170, p. 105254, 2020. </a:t>
            </a:r>
          </a:p>
          <a:p>
            <a:r>
              <a:rPr lang="en-IN" sz="2000"/>
              <a:t>4. M. Abade, A. Ferreira, and A. Medeiros, “Plant diseases recognition on images using convolutional </a:t>
            </a:r>
          </a:p>
          <a:p>
            <a:r>
              <a:rPr lang="en-IN" sz="2000"/>
              <a:t>neural networks: A systematic review,” Computers and Electronics in Agriculture, vol. 185, p. </a:t>
            </a:r>
          </a:p>
          <a:p>
            <a:r>
              <a:rPr lang="en-IN" sz="2000"/>
              <a:t>106125, 2021. </a:t>
            </a:r>
          </a:p>
          <a:p>
            <a:r>
              <a:rPr lang="en-IN" sz="2000"/>
              <a:t>5. M. T. Ahmed, S. U. Khan, and A. Yousaf, “Less is more: Lightweight deep neural architecture for </a:t>
            </a:r>
          </a:p>
          <a:p>
            <a:r>
              <a:rPr lang="en-IN" sz="2000"/>
              <a:t>tomato leaf disease classification,” Computers and Electronics in Agriculture, vol. 194, p. </a:t>
            </a:r>
          </a:p>
          <a:p>
            <a:r>
              <a:rPr lang="en-IN" sz="2000"/>
              <a:t>106780, 2022. </a:t>
            </a:r>
          </a:p>
          <a:p>
            <a:r>
              <a:rPr lang="en-IN" sz="2000"/>
              <a:t>6. R. Saleem, M. M. Asif, and M. U. Saleem, “Leaf image-based plant disease identification using </a:t>
            </a:r>
          </a:p>
          <a:p>
            <a:r>
              <a:rPr lang="en-IN" sz="2000" err="1"/>
              <a:t>color</a:t>
            </a:r>
            <a:r>
              <a:rPr lang="en-IN" sz="2000"/>
              <a:t> and texture features,” International Journal of Advanced Computer Science and </a:t>
            </a:r>
          </a:p>
          <a:p>
            <a:r>
              <a:rPr lang="en-IN" sz="2000"/>
              <a:t>Applications (IJACSA), vol. 12, no. 1, pp. 135–141, 2021. 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9D25374-5142-018C-19F9-B2D3EB8E2A29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4776574-9EDC-F5AB-D263-0795041A79ED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27930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C1C3-696F-F4F9-9EE9-A7624498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3B1E-EDC1-9935-BD44-78423E1C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1" y="654811"/>
            <a:ext cx="9144000" cy="502794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latin typeface="Britannic Bold" panose="020B0903060703020204" pitchFamily="34" charset="0"/>
              </a:rPr>
              <a:t>References</a:t>
            </a:r>
            <a:endParaRPr lang="en-IN" sz="4000" b="1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731A0-1C4E-AF71-3F85-9A50B817341B}"/>
              </a:ext>
            </a:extLst>
          </p:cNvPr>
          <p:cNvSpPr txBox="1"/>
          <p:nvPr/>
        </p:nvSpPr>
        <p:spPr>
          <a:xfrm>
            <a:off x="428171" y="1500237"/>
            <a:ext cx="1126308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/>
              <a:t>7. Y. </a:t>
            </a:r>
            <a:r>
              <a:rPr lang="en-IN" sz="1900" dirty="0" err="1"/>
              <a:t>Xihua</a:t>
            </a:r>
            <a:r>
              <a:rPr lang="en-IN" sz="1900" dirty="0"/>
              <a:t>, “Review on convolutional neural network (CNN) applied to plant leaf disease </a:t>
            </a:r>
          </a:p>
          <a:p>
            <a:r>
              <a:rPr lang="en-IN" sz="1900" dirty="0"/>
              <a:t>classification,” Agriculture, vol. 11, no. 8, p. 707, 2021. </a:t>
            </a:r>
          </a:p>
          <a:p>
            <a:r>
              <a:rPr lang="en-IN" sz="1900" dirty="0"/>
              <a:t>8. M. Saleem, A. Potgieter, and R. Arif, “Plant disease detection and classification by deep learning,” </a:t>
            </a:r>
          </a:p>
          <a:p>
            <a:r>
              <a:rPr lang="en-IN" sz="1900" dirty="0"/>
              <a:t>Electronics, vol. 10, no. 12, p. 1388, 2021. </a:t>
            </a:r>
          </a:p>
          <a:p>
            <a:r>
              <a:rPr lang="en-IN" sz="1900" dirty="0"/>
              <a:t>9. A. B. Kale, B. T. Gaikwad, and P. S. Pawar, “Plant disease detection and classification: A </a:t>
            </a:r>
          </a:p>
          <a:p>
            <a:r>
              <a:rPr lang="en-IN" sz="1900" dirty="0"/>
              <a:t>systematic literature review,” Sensors, vol. 23, no. 10, p. 4769, 2023. </a:t>
            </a:r>
          </a:p>
          <a:p>
            <a:r>
              <a:rPr lang="en-IN" sz="1900" dirty="0"/>
              <a:t>10. R. Singh and A. Kumar, “An effective approach based on a novel </a:t>
            </a:r>
            <a:r>
              <a:rPr lang="en-IN" sz="1900" dirty="0" err="1"/>
              <a:t>DeepPlantNet</a:t>
            </a:r>
            <a:r>
              <a:rPr lang="en-IN" sz="1900" dirty="0"/>
              <a:t> model for plant </a:t>
            </a:r>
          </a:p>
          <a:p>
            <a:r>
              <a:rPr lang="en-IN" sz="1900" dirty="0"/>
              <a:t>leaf disease classification,” Frontiers in Plant Science, vol. 14, p. 1212747, 2023. </a:t>
            </a:r>
          </a:p>
          <a:p>
            <a:r>
              <a:rPr lang="en-IN" sz="1900" dirty="0"/>
              <a:t>11. A. Das, A. K. Saha, and S. S. Mandal, “Detection and classification of leaf disease using deep </a:t>
            </a:r>
          </a:p>
          <a:p>
            <a:r>
              <a:rPr lang="en-IN" sz="1900" dirty="0"/>
              <a:t>learning,” Materials Today: Proceedings, vol. 62, pp. 5553–5558, 2022. </a:t>
            </a:r>
          </a:p>
          <a:p>
            <a:r>
              <a:rPr lang="en-IN" sz="1900" dirty="0"/>
              <a:t>12. N. Sharma, S. Jain, and R. Gupta, “Crop leaf disease detection using hybrid deep learning model,” </a:t>
            </a:r>
          </a:p>
          <a:p>
            <a:r>
              <a:rPr lang="en-IN" sz="1900" dirty="0"/>
              <a:t>Multimedia Tools and Applications, vol. 82, pp. 10479–10500, 2023. 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30EF82F-A216-168C-0F0B-74304E9940E8}"/>
              </a:ext>
            </a:extLst>
          </p:cNvPr>
          <p:cNvSpPr/>
          <p:nvPr/>
        </p:nvSpPr>
        <p:spPr>
          <a:xfrm>
            <a:off x="8654894" y="-985520"/>
            <a:ext cx="4286250" cy="4286250"/>
          </a:xfrm>
          <a:prstGeom prst="ellipse">
            <a:avLst/>
          </a:prstGeom>
          <a:solidFill>
            <a:srgbClr val="9C27B0">
              <a:alpha val="5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D658604-4D73-B9BF-3090-696E955D8CA8}"/>
              </a:ext>
            </a:extLst>
          </p:cNvPr>
          <p:cNvSpPr/>
          <p:nvPr/>
        </p:nvSpPr>
        <p:spPr>
          <a:xfrm>
            <a:off x="-539751" y="4781550"/>
            <a:ext cx="2857500" cy="2857500"/>
          </a:xfrm>
          <a:prstGeom prst="ellipse">
            <a:avLst/>
          </a:prstGeom>
          <a:solidFill>
            <a:srgbClr val="7B1FA2">
              <a:alpha val="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66917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1668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Britannic Bold</vt:lpstr>
      <vt:lpstr>Calibri</vt:lpstr>
      <vt:lpstr>Calibri Light</vt:lpstr>
      <vt:lpstr>Californian FB</vt:lpstr>
      <vt:lpstr>Times New Roman</vt:lpstr>
      <vt:lpstr>Trebuchet MS</vt:lpstr>
      <vt:lpstr>Office Theme</vt:lpstr>
      <vt:lpstr>Climate-Aware Spread Prediction of Leaf Disease using Transfer Learning</vt:lpstr>
      <vt:lpstr>Problem Statement</vt:lpstr>
      <vt:lpstr>Abstract</vt:lpstr>
      <vt:lpstr>Literature Review</vt:lpstr>
      <vt:lpstr>Literature Review</vt:lpstr>
      <vt:lpstr>Literature Review</vt:lpstr>
      <vt:lpstr>Technologies Used</vt:lpstr>
      <vt:lpstr>Architecture Diagram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Reddy Eduru</dc:creator>
  <cp:lastModifiedBy>Gowtham Chittidi</cp:lastModifiedBy>
  <cp:revision>7</cp:revision>
  <cp:lastPrinted>2025-10-17T02:35:01Z</cp:lastPrinted>
  <dcterms:created xsi:type="dcterms:W3CDTF">2025-07-21T17:13:48Z</dcterms:created>
  <dcterms:modified xsi:type="dcterms:W3CDTF">2025-10-17T04:48:12Z</dcterms:modified>
</cp:coreProperties>
</file>